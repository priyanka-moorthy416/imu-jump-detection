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7" r:id="rId5"/>
    <p:sldId id="278" r:id="rId6"/>
    <p:sldId id="268" r:id="rId7"/>
    <p:sldId id="258" r:id="rId8"/>
    <p:sldId id="269" r:id="rId9"/>
    <p:sldId id="280" r:id="rId10"/>
    <p:sldId id="264" r:id="rId11"/>
    <p:sldId id="272" r:id="rId12"/>
    <p:sldId id="273" r:id="rId13"/>
    <p:sldId id="260" r:id="rId14"/>
    <p:sldId id="274" r:id="rId15"/>
    <p:sldId id="275" r:id="rId16"/>
    <p:sldId id="279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E4E5F4-E054-4847-A504-ADA27F9D141F}" v="3" dt="2026-05-21T10:12:16.5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AFA3D-2EB2-DC58-6E1A-3AA9CFB74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F935C5-CE7F-6607-7FA1-525D19EF9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D33C9-1CAD-338F-C90B-21444299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885D-753B-4A31-AEF0-2EC601DA26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8871A-C7AE-7F7B-156A-A8D0AAA95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FAD74-A902-E410-6B40-DCB9436F3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2E277-59EC-40B8-BFAE-46C932186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22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4522C-7794-A5A0-AFEF-7C23C6C1B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FB385-E619-920D-4A8A-147845F9C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AF75A-195A-D820-CD3C-98A0264E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885D-753B-4A31-AEF0-2EC601DA26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2D0BC-F2E9-217C-90C1-5D87A515D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F4099-92D2-8BDC-E4A5-46412DE54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2E277-59EC-40B8-BFAE-46C932186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696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B683-4716-D34E-56DC-8B0ACE0F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12D9E-5666-C767-FC97-8BEB2D48E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EE874-BB7A-271F-4FB6-E987B15A4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885D-753B-4A31-AEF0-2EC601DA26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9B844-387F-872D-B632-63F277773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6BF79-06E2-585D-785D-6FEDB866E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2E277-59EC-40B8-BFAE-46C932186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719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EA957-5B74-7476-B870-C29C4CDF1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61079-D4B7-2168-B4AC-C450CD8F38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89A6D-A105-4BC8-BD2B-EC00760BF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01AAA-0D87-313B-8751-CF85E6A29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885D-753B-4A31-AEF0-2EC601DA26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D7A73-1417-B7D2-888B-63E5AC38A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2C794-5FEF-A6C0-DB98-4B6503CB9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2E277-59EC-40B8-BFAE-46C932186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43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E391D-7838-6174-74E7-A95ED3382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9F908-1C95-FFF1-3BC5-A24D7B421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CE7ADF-4AFD-EF2D-497A-A9008ABD1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58DE-9034-22D2-92D3-4209260CF8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27A880-926D-91B7-5B33-D6755916C3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CD3027-5633-6DEB-838E-DF2004D9B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885D-753B-4A31-AEF0-2EC601DA26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EE1D9-7E37-8C38-6F6E-CEC09723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81629F-79F1-84F5-B8CC-503536735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2E277-59EC-40B8-BFAE-46C932186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022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0EED3-F8DE-92BE-A1FC-BCDDF7A8F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293BA6-3E7C-AD41-A937-30756243D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885D-753B-4A31-AEF0-2EC601DA26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0607B-1CA0-A931-1AFF-354573DFC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EFE353-65F7-7AE8-EFCE-AF38069AE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2E277-59EC-40B8-BFAE-46C932186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52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6BB6A9-F2FF-7729-4AE1-658120172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885D-753B-4A31-AEF0-2EC601DA26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4C05F-C0E4-8985-FFDA-17939AAD9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2A600-08D5-F4EC-584D-D5AA1F62C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2E277-59EC-40B8-BFAE-46C932186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164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355B3-3EA9-8A4C-BD3C-9981606F4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26102-921B-398C-64FD-42CBF66BB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14C9D-642A-F5D9-7670-6FBD3F793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68B91-6B9C-A428-8086-13EAB66F1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885D-753B-4A31-AEF0-2EC601DA26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2917E-5656-AA5D-0344-FDCDEB7C5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2BC34-CA27-958F-D4FD-DE8AF4C20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2E277-59EC-40B8-BFAE-46C932186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859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A1FAF-3279-6DC2-A2FB-702B901A8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78F6CC-1AAB-E687-C32F-3383B50639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EE5B1-4001-6404-24B1-F7497DC34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87B71-0834-4A1B-54DF-24139824A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885D-753B-4A31-AEF0-2EC601DA26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4B9ADD-CCB7-2665-37B8-9A80A6111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3374B-6ECF-1D6A-5603-DB82D814A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2E277-59EC-40B8-BFAE-46C932186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19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30F95-0DCE-D7CF-C4F7-CC1556025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67EEC2-95E7-E56A-9109-F0FC23441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20972-D50D-2CF3-88D1-47BCFE6DA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885D-753B-4A31-AEF0-2EC601DA26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F8299-A734-9DEA-309B-ED640CCBE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6FB7B-C252-D3C6-55DC-4965F63CD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2E277-59EC-40B8-BFAE-46C932186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954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3EAC4B-38DB-F414-6474-8AABE50F5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C67B9-8FDB-1886-AD06-1B36C8286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45440-3016-3444-EC5A-413B85FAC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885D-753B-4A31-AEF0-2EC601DA26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F1BE1-75D0-BC5D-6722-24EA36285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669E-05BF-D926-F840-8861101A5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2E277-59EC-40B8-BFAE-46C932186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289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627CD0-23AD-337B-AEB8-95E7357FA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82FF8-CFA0-4F7B-39B9-014478DF5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ED1DA-F2B8-024F-41C2-2F40872D4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30885D-753B-4A31-AEF0-2EC601DA26F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92AA1-1E43-AA9F-121D-8DC8C55A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974F3-10B0-8DC7-96AE-368E9B214D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62E277-59EC-40B8-BFAE-46C932186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474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dpi.com/1424-8220/24/24/7877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883DA-F485-78BF-6D3A-6B5FDB221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-857452"/>
            <a:ext cx="11603735" cy="436874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&amp; Implementation of embedded system for IMU-based jump event detection &amp; Timing Analysis</a:t>
            </a:r>
            <a:endParaRPr lang="en-IN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83066B-6AC1-ACF5-20C0-46E78C8CF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6987" y="1874520"/>
            <a:ext cx="4334256" cy="1810512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000" dirty="0"/>
              <a:t>    </a:t>
            </a:r>
          </a:p>
          <a:p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663D74-C3D0-759D-04DA-CC8C9DB2ED23}"/>
              </a:ext>
            </a:extLst>
          </p:cNvPr>
          <p:cNvSpPr txBox="1"/>
          <p:nvPr/>
        </p:nvSpPr>
        <p:spPr>
          <a:xfrm>
            <a:off x="5692140" y="254203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E15472-428E-46DB-19CA-EF60C77D52FE}"/>
              </a:ext>
            </a:extLst>
          </p:cNvPr>
          <p:cNvSpPr txBox="1"/>
          <p:nvPr/>
        </p:nvSpPr>
        <p:spPr>
          <a:xfrm>
            <a:off x="9701784" y="4581144"/>
            <a:ext cx="1899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Priyanka Moorthy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6081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4553B-5D29-F1ED-8ACE-9CF6FCED6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0A883-2F0F-C062-A062-CAE5906A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0097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Athlete performance analysis plays a crucial role in modern sports training and injury prevention.</a:t>
            </a:r>
          </a:p>
          <a:p>
            <a:pPr algn="just"/>
            <a:r>
              <a:rPr lang="en-US" dirty="0"/>
              <a:t>Jump performance, including </a:t>
            </a:r>
            <a:r>
              <a:rPr lang="en-US" b="1" dirty="0"/>
              <a:t>take-off and landing timing</a:t>
            </a:r>
            <a:r>
              <a:rPr lang="en-US" dirty="0"/>
              <a:t>, provides important insights into an athlete’s strength and coordination.</a:t>
            </a:r>
          </a:p>
          <a:p>
            <a:pPr algn="just"/>
            <a:r>
              <a:rPr lang="en-US" dirty="0"/>
              <a:t>Traditional jump analysis systems often rely on </a:t>
            </a:r>
            <a:r>
              <a:rPr lang="en-US" b="1" dirty="0"/>
              <a:t>high-speed cameras and expensive laboratory equipment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An </a:t>
            </a:r>
            <a:r>
              <a:rPr lang="en-US" b="1" dirty="0"/>
              <a:t>Inertial Measurement Unit (IMU)</a:t>
            </a:r>
            <a:r>
              <a:rPr lang="en-US" dirty="0"/>
              <a:t> can measure motion using acceleration and angular velocity data.</a:t>
            </a:r>
          </a:p>
          <a:p>
            <a:pPr algn="just"/>
            <a:r>
              <a:rPr lang="en-US" dirty="0"/>
              <a:t>This project focuses on designing an </a:t>
            </a:r>
            <a:r>
              <a:rPr lang="en-US" b="1" dirty="0"/>
              <a:t>embedded system using IMU sensors and a microcontroller</a:t>
            </a:r>
            <a:r>
              <a:rPr lang="en-US" dirty="0"/>
              <a:t> to detect jump events and analyze timing accurately.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3635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A4F2E-109B-6CA2-DB5D-260C6A2EF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49A19-B7A2-2A2A-D210-2F1F544AB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Jump detection is commonly used in sports analysis fitness monitoring and rehabilitation system.</a:t>
            </a:r>
          </a:p>
          <a:p>
            <a:r>
              <a:rPr lang="en-US" dirty="0"/>
              <a:t>Existing method for accurate jump detection such as force plates and motion capture system provide high precision but have significant limitations: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They are expensive and not portable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Require control environments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Not suitable for everyday or wearable applications, therefore there is a need to develop a low cost portable and reliable           jump detection system using embedded hardware and sensor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5308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173F5-6AEF-35C0-9230-50DED53D7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     Objective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4F2DA-EFC1-7315-89F9-F182CB854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352" y="1432433"/>
            <a:ext cx="10515600" cy="4351338"/>
          </a:xfrm>
        </p:spPr>
        <p:txBody>
          <a:bodyPr/>
          <a:lstStyle/>
          <a:p>
            <a:r>
              <a:rPr lang="en-US" dirty="0"/>
              <a:t>The main objective of this project is to design a reliable jump detection system using IMU sensor data.</a:t>
            </a:r>
          </a:p>
          <a:p>
            <a:r>
              <a:rPr lang="en-US" dirty="0"/>
              <a:t>The specific goals are:</a:t>
            </a:r>
          </a:p>
          <a:p>
            <a:r>
              <a:rPr lang="en-US" dirty="0"/>
              <a:t>To measure acceleration using MPU6500 sensor</a:t>
            </a:r>
          </a:p>
          <a:p>
            <a:r>
              <a:rPr lang="en-US" dirty="0"/>
              <a:t>To compute total acceleration magnitude from 3-axis data</a:t>
            </a:r>
          </a:p>
          <a:p>
            <a:r>
              <a:rPr lang="en-US" dirty="0"/>
              <a:t>To identify distinct phases of a jump (takeoff, flight, landing)</a:t>
            </a:r>
          </a:p>
          <a:p>
            <a:r>
              <a:rPr lang="en-US" dirty="0"/>
              <a:t>To reduce false positives caused by random motion</a:t>
            </a:r>
          </a:p>
          <a:p>
            <a:r>
              <a:rPr lang="en-US" dirty="0"/>
              <a:t>To implement an efficient algorithm on ESP32 suitable for real-time processing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1207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79A50-B4E7-274B-5DAD-1163D91CC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Literature survey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2D9BF-57DF-B16E-58E7-4724AD37B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745"/>
            <a:ext cx="10515600" cy="4351338"/>
          </a:xfrm>
        </p:spPr>
        <p:txBody>
          <a:bodyPr/>
          <a:lstStyle/>
          <a:p>
            <a:r>
              <a:rPr lang="en-US" dirty="0"/>
              <a:t>Development and evaluation of an inertial measurement unit (IMU) system for jump detection and jump height estimation in beach volleyball   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54BA8D-729B-52DF-D98A-037684833F64}"/>
              </a:ext>
            </a:extLst>
          </p:cNvPr>
          <p:cNvSpPr txBox="1"/>
          <p:nvPr/>
        </p:nvSpPr>
        <p:spPr>
          <a:xfrm>
            <a:off x="1158240" y="2787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https://www.mdpi.com/1424-8220/24/24/7877</a:t>
            </a:r>
            <a:r>
              <a:rPr lang="en-IN" dirty="0"/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95CAB0-D588-F106-5538-597341B5EFAC}"/>
              </a:ext>
            </a:extLst>
          </p:cNvPr>
          <p:cNvSpPr txBox="1"/>
          <p:nvPr/>
        </p:nvSpPr>
        <p:spPr>
          <a:xfrm>
            <a:off x="838200" y="3564414"/>
            <a:ext cx="106527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Vertical Jump Height Estimation Using Low-Sampling IMU in Countermovement Jumps: A Feasible Alternative to Motion Capture and Force Platforms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E997F-34B8-C646-FF9B-8BAAACE107A4}"/>
              </a:ext>
            </a:extLst>
          </p:cNvPr>
          <p:cNvSpPr txBox="1"/>
          <p:nvPr/>
        </p:nvSpPr>
        <p:spPr>
          <a:xfrm>
            <a:off x="1158240" y="49880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https://www.mdpi.com/1424-8220/24/24/7877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9392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B4818-9808-9D89-065B-66D5F7791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System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81C01-A3F8-25A1-3552-E0B6D5792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5313"/>
            <a:ext cx="10515600" cy="4351338"/>
          </a:xfrm>
        </p:spPr>
        <p:txBody>
          <a:bodyPr/>
          <a:lstStyle/>
          <a:p>
            <a:r>
              <a:rPr lang="en-US" dirty="0"/>
              <a:t>The system consists of an IMU sensor (MPU6500) interfaced with an ESP32 microcontroller using I2C communication.</a:t>
            </a:r>
          </a:p>
          <a:p>
            <a:r>
              <a:rPr lang="en-US" dirty="0"/>
              <a:t>The MPU6500 measures 3-axis acceleration data</a:t>
            </a:r>
          </a:p>
          <a:p>
            <a:r>
              <a:rPr lang="en-US" dirty="0"/>
              <a:t>ESP32 processes the sensor data in real time</a:t>
            </a:r>
          </a:p>
          <a:p>
            <a:r>
              <a:rPr lang="en-US" dirty="0"/>
              <a:t>A Finite State Machine (FSM) is used to analyze motion patterns</a:t>
            </a:r>
          </a:p>
          <a:p>
            <a:r>
              <a:rPr lang="en-US" dirty="0"/>
              <a:t>LED is used as an output indicator for jump detection</a:t>
            </a:r>
          </a:p>
          <a:p>
            <a:r>
              <a:rPr lang="en-US" dirty="0"/>
              <a:t>The system continuously monitors motion and detects a valid jump based on predefined conditions.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6723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238B1-DF15-F9E1-D404-F8C09DBD4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7776" y="97693"/>
            <a:ext cx="9686544" cy="493775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               </a:t>
            </a:r>
            <a:r>
              <a:rPr lang="en-US" sz="3200" dirty="0"/>
              <a:t>BLOCK DIAGRAM</a:t>
            </a:r>
            <a:endParaRPr lang="en-IN" sz="3200" dirty="0"/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79961686-FF06-2773-2C3D-28C3AA16E2F9}"/>
              </a:ext>
            </a:extLst>
          </p:cNvPr>
          <p:cNvSpPr/>
          <p:nvPr/>
        </p:nvSpPr>
        <p:spPr>
          <a:xfrm>
            <a:off x="1020064" y="650240"/>
            <a:ext cx="3149600" cy="105664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MPU 6500 IMU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92799-F5F1-F1EA-AF78-36F6E50D8D57}"/>
              </a:ext>
            </a:extLst>
          </p:cNvPr>
          <p:cNvSpPr/>
          <p:nvPr/>
        </p:nvSpPr>
        <p:spPr>
          <a:xfrm>
            <a:off x="979678" y="2123440"/>
            <a:ext cx="3149600" cy="1178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ESP32 </a:t>
            </a:r>
            <a:r>
              <a:rPr lang="en-US" sz="1600" b="1" dirty="0">
                <a:solidFill>
                  <a:schemeClr val="bg2"/>
                </a:solidFill>
              </a:rPr>
              <a:t>MICROCONTROLLER</a:t>
            </a:r>
            <a:endParaRPr lang="en-IN" b="1" dirty="0">
              <a:solidFill>
                <a:schemeClr val="bg2"/>
              </a:solidFill>
            </a:endParaRP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19FDA2E7-6D32-FB88-1428-F4F924FF25B6}"/>
              </a:ext>
            </a:extLst>
          </p:cNvPr>
          <p:cNvSpPr/>
          <p:nvPr/>
        </p:nvSpPr>
        <p:spPr>
          <a:xfrm>
            <a:off x="979678" y="3784601"/>
            <a:ext cx="3149600" cy="117856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JUMP DETECTION ALGORITHM</a:t>
            </a:r>
            <a:endParaRPr lang="en-IN" dirty="0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23B8142F-D03F-EA10-7E74-8DABE6269287}"/>
              </a:ext>
            </a:extLst>
          </p:cNvPr>
          <p:cNvSpPr/>
          <p:nvPr/>
        </p:nvSpPr>
        <p:spPr>
          <a:xfrm>
            <a:off x="979678" y="5445762"/>
            <a:ext cx="3149600" cy="117856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LED INDICATOR AND SERIAL MONITOR OUTPUT</a:t>
            </a:r>
            <a:endParaRPr lang="en-IN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9BE0B812-F953-A482-9378-87FEFDEF935C}"/>
              </a:ext>
            </a:extLst>
          </p:cNvPr>
          <p:cNvSpPr/>
          <p:nvPr/>
        </p:nvSpPr>
        <p:spPr>
          <a:xfrm>
            <a:off x="2336038" y="1706880"/>
            <a:ext cx="436880" cy="406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80C2EB7C-D68A-508E-5490-362045DC95BC}"/>
              </a:ext>
            </a:extLst>
          </p:cNvPr>
          <p:cNvSpPr/>
          <p:nvPr/>
        </p:nvSpPr>
        <p:spPr>
          <a:xfrm>
            <a:off x="2365248" y="3317241"/>
            <a:ext cx="436880" cy="4775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3630F56A-AA98-31B5-CDBA-6738ABB946D8}"/>
              </a:ext>
            </a:extLst>
          </p:cNvPr>
          <p:cNvSpPr/>
          <p:nvPr/>
        </p:nvSpPr>
        <p:spPr>
          <a:xfrm>
            <a:off x="2376424" y="4953001"/>
            <a:ext cx="436880" cy="4775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488669-24D7-D348-95EF-ECA6007A7040}"/>
              </a:ext>
            </a:extLst>
          </p:cNvPr>
          <p:cNvSpPr txBox="1"/>
          <p:nvPr/>
        </p:nvSpPr>
        <p:spPr>
          <a:xfrm>
            <a:off x="4965956" y="1079656"/>
            <a:ext cx="6628636" cy="3376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ESP32 used for real-time processing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MPU6500 interfaced using I2C protocol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Sampling rate ≈ 100 Hz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Acceleration converted to g-units for consistency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FSM implemented in embedded C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LED used as output indicator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system operates continuously and processes data in real time.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160344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1CBBF-07C4-02D7-1F82-ED04E17F4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Working principle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5D153-0509-2DDC-D665-AFCE075FF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729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N" dirty="0"/>
              <a:t>The system calculates the total acceleration using the formula:</a:t>
            </a:r>
          </a:p>
          <a:p>
            <a:r>
              <a:rPr lang="en-IN" dirty="0" err="1"/>
              <a:t>A_total</a:t>
            </a:r>
            <a:r>
              <a:rPr lang="en-IN" dirty="0"/>
              <a:t> = √(Ax² + Ay² + Az²)</a:t>
            </a:r>
          </a:p>
          <a:p>
            <a:r>
              <a:rPr lang="en-IN" dirty="0"/>
              <a:t>This converts 3-axis acceleration into a single scalar value.</a:t>
            </a:r>
          </a:p>
          <a:p>
            <a:r>
              <a:rPr lang="en-IN" dirty="0"/>
              <a:t>Key observations:</a:t>
            </a:r>
          </a:p>
          <a:p>
            <a:r>
              <a:rPr lang="en-IN" dirty="0"/>
              <a:t>At rest → acceleration ≈ 1g</a:t>
            </a:r>
          </a:p>
          <a:p>
            <a:r>
              <a:rPr lang="en-IN" dirty="0"/>
              <a:t>During </a:t>
            </a:r>
            <a:r>
              <a:rPr lang="en-IN" dirty="0" err="1"/>
              <a:t>takeoff</a:t>
            </a:r>
            <a:r>
              <a:rPr lang="en-IN" dirty="0"/>
              <a:t> → acceleration increases (&gt;1g)</a:t>
            </a:r>
          </a:p>
          <a:p>
            <a:r>
              <a:rPr lang="en-IN" dirty="0"/>
              <a:t>During flight → acceleration decreases significantly (&lt;1g, near 0g)</a:t>
            </a:r>
          </a:p>
          <a:p>
            <a:r>
              <a:rPr lang="en-IN" dirty="0"/>
              <a:t>During landing → sudden spike (&gt;2g)</a:t>
            </a:r>
          </a:p>
          <a:p>
            <a:r>
              <a:rPr lang="en-IN" dirty="0"/>
              <a:t>This pattern is used to identify a jump event</a:t>
            </a:r>
          </a:p>
        </p:txBody>
      </p:sp>
    </p:spTree>
    <p:extLst>
      <p:ext uri="{BB962C8B-B14F-4D97-AF65-F5344CB8AC3E}">
        <p14:creationId xmlns:p14="http://schemas.microsoft.com/office/powerpoint/2010/main" val="4136576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653C3-EE8E-D9FB-84BF-7BD7CA9CF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520" y="-48578"/>
            <a:ext cx="10515600" cy="1325563"/>
          </a:xfrm>
        </p:spPr>
        <p:txBody>
          <a:bodyPr/>
          <a:lstStyle/>
          <a:p>
            <a:r>
              <a:rPr lang="en-US" dirty="0"/>
              <a:t>                   Requirements</a:t>
            </a:r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6B34A93-93DC-7C47-3EAB-5D4C05DB0C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73" y="1652905"/>
            <a:ext cx="3043747" cy="21612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66F580-8E56-7DA3-01EE-042A69296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435" y="1683385"/>
            <a:ext cx="1879690" cy="22755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DA1140-3AE1-5000-E9BF-E6AFF6D9D7AB}"/>
              </a:ext>
            </a:extLst>
          </p:cNvPr>
          <p:cNvSpPr txBox="1"/>
          <p:nvPr/>
        </p:nvSpPr>
        <p:spPr>
          <a:xfrm>
            <a:off x="481773" y="3958934"/>
            <a:ext cx="41003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MPU6500 IMU Sensor</a:t>
            </a:r>
          </a:p>
          <a:p>
            <a:r>
              <a:rPr lang="en-IN" b="1" dirty="0"/>
              <a:t>• 3-axis accelerometer</a:t>
            </a:r>
          </a:p>
          <a:p>
            <a:r>
              <a:rPr lang="en-IN" b="1" dirty="0"/>
              <a:t>• 3-axis gyroscope</a:t>
            </a:r>
          </a:p>
          <a:p>
            <a:r>
              <a:rPr lang="en-IN" b="1" dirty="0"/>
              <a:t>• Used to measure motion and orientation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587716-8AA5-704F-E3CD-109726643DBC}"/>
              </a:ext>
            </a:extLst>
          </p:cNvPr>
          <p:cNvSpPr txBox="1"/>
          <p:nvPr/>
        </p:nvSpPr>
        <p:spPr>
          <a:xfrm>
            <a:off x="4231640" y="4103722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ESP32 Development Board</a:t>
            </a:r>
          </a:p>
          <a:p>
            <a:r>
              <a:rPr lang="en-IN" b="1" dirty="0"/>
              <a:t>• Main microcontroller used for</a:t>
            </a:r>
          </a:p>
          <a:p>
            <a:r>
              <a:rPr lang="en-IN" b="1" dirty="0"/>
              <a:t> data processing and control</a:t>
            </a:r>
          </a:p>
          <a:p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226158-C062-531D-E9D7-8979E1C16A96}"/>
              </a:ext>
            </a:extLst>
          </p:cNvPr>
          <p:cNvSpPr txBox="1"/>
          <p:nvPr/>
        </p:nvSpPr>
        <p:spPr>
          <a:xfrm>
            <a:off x="481773" y="5743610"/>
            <a:ext cx="23672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Other components</a:t>
            </a:r>
          </a:p>
          <a:p>
            <a:r>
              <a:rPr lang="en-IN" b="1" dirty="0"/>
              <a:t>• Breadboard</a:t>
            </a:r>
          </a:p>
          <a:p>
            <a:r>
              <a:rPr lang="en-IN" b="1" dirty="0"/>
              <a:t>• Jumper wires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20C872-D6EC-A51D-61D4-EE888D966D83}"/>
              </a:ext>
            </a:extLst>
          </p:cNvPr>
          <p:cNvSpPr txBox="1"/>
          <p:nvPr/>
        </p:nvSpPr>
        <p:spPr>
          <a:xfrm>
            <a:off x="966761" y="1129899"/>
            <a:ext cx="3245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HARDWARE REQUIREMENTS:</a:t>
            </a:r>
            <a:endParaRPr lang="en-IN" b="1" u="sn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8C5F0E-DEEF-E351-FAE1-AC611B800654}"/>
              </a:ext>
            </a:extLst>
          </p:cNvPr>
          <p:cNvSpPr txBox="1"/>
          <p:nvPr/>
        </p:nvSpPr>
        <p:spPr>
          <a:xfrm>
            <a:off x="8778240" y="1276985"/>
            <a:ext cx="31786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SOFTWARE REQUIREMENTS:</a:t>
            </a:r>
          </a:p>
          <a:p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ARDUINO </a:t>
            </a:r>
            <a:r>
              <a:rPr lang="en-US" dirty="0"/>
              <a:t>IDE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9625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7F81-3013-162F-95D8-EF8FD1426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Hardware Implementation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1A7A2-C60E-CCAC-45F0-AE69CC0D9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569"/>
            <a:ext cx="10515600" cy="435133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ESP32 connected to MPU6500 sensor using I2C interface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 Sensor powered using 3.3V supply from ESP32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 LED connected as output indicator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 System programmed using Arduino IDE</a:t>
            </a:r>
          </a:p>
          <a:p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505273C-3015-E3CB-50D4-46BA78CF3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576" y="3707224"/>
            <a:ext cx="4142232" cy="278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84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FB321-4D19-798F-DDEF-22F49FF2F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       Key Insight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76BA2-0803-00FE-5083-651519BA4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145"/>
            <a:ext cx="10515600" cy="4351338"/>
          </a:xfrm>
        </p:spPr>
        <p:txBody>
          <a:bodyPr/>
          <a:lstStyle/>
          <a:p>
            <a:r>
              <a:rPr lang="en-US" dirty="0"/>
              <a:t>The most important characteristic of a jump is the flight phase.</a:t>
            </a:r>
          </a:p>
          <a:p>
            <a:r>
              <a:rPr lang="en-US" dirty="0"/>
              <a:t>During flight:</a:t>
            </a:r>
          </a:p>
          <a:p>
            <a:r>
              <a:rPr lang="en-US" dirty="0"/>
              <a:t>The body is in free fall</a:t>
            </a:r>
          </a:p>
          <a:p>
            <a:r>
              <a:rPr lang="en-US" dirty="0"/>
              <a:t>Acceleration approaches zero (0g)</a:t>
            </a:r>
          </a:p>
          <a:p>
            <a:r>
              <a:rPr lang="en-US" dirty="0"/>
              <a:t>This condition does not occur in normal hand movements</a:t>
            </a:r>
          </a:p>
          <a:p>
            <a:r>
              <a:rPr lang="en-US" dirty="0"/>
              <a:t>Hence, detecting the flight phase becomes the key criterion for distinguishing a real jump from noise or random motion.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1807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BB505-76E3-3BF6-B0C4-70DD0A6F3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88296" cy="45719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                  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565DA-CC17-17FB-3383-BB5B23928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216" y="792352"/>
            <a:ext cx="10838688" cy="559015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To improve detection accuracy, a Finite State Machine (FSM) is implemented.</a:t>
            </a:r>
          </a:p>
          <a:p>
            <a:r>
              <a:rPr lang="en-US" dirty="0" err="1"/>
              <a:t>States:IDLE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/>
              <a:t>TAKEOFF</a:t>
            </a:r>
            <a:r>
              <a:rPr lang="en-US" dirty="0" err="1">
                <a:sym typeface="Wingdings" panose="05000000000000000000" pitchFamily="2" charset="2"/>
              </a:rPr>
              <a:t>F</a:t>
            </a:r>
            <a:r>
              <a:rPr lang="en-US" dirty="0" err="1"/>
              <a:t>LIGHT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/>
              <a:t>LANDING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/>
              <a:t>RECOVERY</a:t>
            </a:r>
            <a:endParaRPr lang="en-US" dirty="0"/>
          </a:p>
          <a:p>
            <a:r>
              <a:rPr lang="en-US" dirty="0"/>
              <a:t>Each state represents a phase of motion, and transitions occur based on acceleration conditions.</a:t>
            </a:r>
          </a:p>
          <a:p>
            <a:r>
              <a:rPr lang="en-US" dirty="0"/>
              <a:t>This ensures that only valid motion sequences are considered as a jump.</a:t>
            </a:r>
          </a:p>
          <a:p>
            <a:r>
              <a:rPr lang="en-US" dirty="0"/>
              <a:t>To avoid false detection, a duration-based condition is added:</a:t>
            </a:r>
          </a:p>
          <a:p>
            <a:r>
              <a:rPr lang="en-US" dirty="0"/>
              <a:t>Acceleration must remain below flight threshold for multiple consecutive samples</a:t>
            </a:r>
          </a:p>
          <a:p>
            <a:r>
              <a:rPr lang="en-US" dirty="0"/>
              <a:t>This ensures:</a:t>
            </a:r>
          </a:p>
          <a:p>
            <a:r>
              <a:rPr lang="en-US" dirty="0"/>
              <a:t>Short dips (noise/tap) are ignored</a:t>
            </a:r>
          </a:p>
          <a:p>
            <a:r>
              <a:rPr lang="en-US" dirty="0"/>
              <a:t>Only sustained low acceleration is considered</a:t>
            </a:r>
          </a:p>
          <a:p>
            <a:r>
              <a:rPr lang="en-US" dirty="0"/>
              <a:t>Thus, the system differentiates between real jumps and transient disturbances.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746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93092-9DE1-4C08-7212-2F6798578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92" y="-77597"/>
            <a:ext cx="10226040" cy="1010286"/>
          </a:xfrm>
        </p:spPr>
        <p:txBody>
          <a:bodyPr/>
          <a:lstStyle/>
          <a:p>
            <a:r>
              <a:rPr lang="en-US" dirty="0"/>
              <a:t>                       Experimental Results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6EEBB-566E-442E-0A81-98BFA25A9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032" y="856362"/>
            <a:ext cx="9401048" cy="191477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No motion → No detection</a:t>
            </a:r>
          </a:p>
          <a:p>
            <a:r>
              <a:rPr lang="en-US" dirty="0"/>
              <a:t>Tap → No detection (false positives reduced)</a:t>
            </a:r>
          </a:p>
          <a:p>
            <a:r>
              <a:rPr lang="en-US" dirty="0"/>
              <a:t>Shake → Mostly ignored</a:t>
            </a:r>
          </a:p>
          <a:p>
            <a:r>
              <a:rPr lang="en-US" dirty="0"/>
              <a:t>Jump → Successfully detected</a:t>
            </a:r>
          </a:p>
          <a:p>
            <a:r>
              <a:rPr lang="en-US" dirty="0"/>
              <a:t>The FSM-based approach significantly improves reliability compared to threshold-only method.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4CE319-3909-03CC-83AB-48B2F63DD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924" y="3644286"/>
            <a:ext cx="2990850" cy="704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1F29A8-3DFE-5B81-4CA6-0421C4E47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243" y="3458211"/>
            <a:ext cx="3076575" cy="1257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65FD12-72EF-B985-80AE-06E3995C6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2910" y="3363298"/>
            <a:ext cx="3152775" cy="1266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4317F2-A441-9062-C135-F7251BD4DEC3}"/>
              </a:ext>
            </a:extLst>
          </p:cNvPr>
          <p:cNvSpPr txBox="1"/>
          <p:nvPr/>
        </p:nvSpPr>
        <p:spPr>
          <a:xfrm>
            <a:off x="798156" y="2905780"/>
            <a:ext cx="2012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OUTPUT</a:t>
            </a: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3065A0-78B9-C40E-D5CC-FDB6EB54AE72}"/>
              </a:ext>
            </a:extLst>
          </p:cNvPr>
          <p:cNvSpPr txBox="1"/>
          <p:nvPr/>
        </p:nvSpPr>
        <p:spPr>
          <a:xfrm>
            <a:off x="1087928" y="4471176"/>
            <a:ext cx="2170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motion detected</a:t>
            </a:r>
          </a:p>
          <a:p>
            <a:r>
              <a:rPr lang="en-US" dirty="0"/>
              <a:t>System at  rest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39EB5F-3415-5F97-F0EA-97834CE48178}"/>
              </a:ext>
            </a:extLst>
          </p:cNvPr>
          <p:cNvSpPr txBox="1"/>
          <p:nvPr/>
        </p:nvSpPr>
        <p:spPr>
          <a:xfrm>
            <a:off x="4009370" y="4903104"/>
            <a:ext cx="38667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System detected higher acceleration </a:t>
            </a:r>
          </a:p>
          <a:p>
            <a:r>
              <a:rPr lang="en-US" dirty="0"/>
              <a:t>due to random body movement but </a:t>
            </a:r>
          </a:p>
          <a:p>
            <a:r>
              <a:rPr lang="en-US" dirty="0"/>
              <a:t>flight phase not detected</a:t>
            </a:r>
          </a:p>
          <a:p>
            <a:r>
              <a:rPr lang="en-US" dirty="0"/>
              <a:t>No jump event detected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410833-9EE8-9C3C-AE1F-4DA5CC6828F3}"/>
              </a:ext>
            </a:extLst>
          </p:cNvPr>
          <p:cNvSpPr txBox="1"/>
          <p:nvPr/>
        </p:nvSpPr>
        <p:spPr>
          <a:xfrm>
            <a:off x="8409243" y="5222282"/>
            <a:ext cx="2711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Jump sequence validated</a:t>
            </a:r>
          </a:p>
          <a:p>
            <a:r>
              <a:rPr lang="en-US" dirty="0"/>
              <a:t>Event detected.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5726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DB027-8327-EF56-3AB6-AFCFD32B6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                               Limitations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49CBB-275B-0049-0B97-9E2DCBAEB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360" y="932338"/>
            <a:ext cx="10646664" cy="2313782"/>
          </a:xfrm>
        </p:spPr>
        <p:txBody>
          <a:bodyPr/>
          <a:lstStyle/>
          <a:p>
            <a:r>
              <a:rPr lang="en-US" dirty="0"/>
              <a:t>System may still respond to extreme irregular motions</a:t>
            </a:r>
          </a:p>
          <a:p>
            <a:r>
              <a:rPr lang="en-US" dirty="0"/>
              <a:t>No filtering applied to reduce noise</a:t>
            </a:r>
          </a:p>
          <a:p>
            <a:r>
              <a:rPr lang="en-US" dirty="0"/>
              <a:t>Gyroscope data is not yet utilized</a:t>
            </a:r>
          </a:p>
          <a:p>
            <a:r>
              <a:rPr lang="en-US" dirty="0"/>
              <a:t>Performance depends on threshold tuning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01BE7-C838-55F7-F031-51C9B6E913B5}"/>
              </a:ext>
            </a:extLst>
          </p:cNvPr>
          <p:cNvSpPr txBox="1"/>
          <p:nvPr/>
        </p:nvSpPr>
        <p:spPr>
          <a:xfrm>
            <a:off x="975360" y="4025037"/>
            <a:ext cx="900074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Integrate gyroscope data for better motion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Apply filtering techniques (low-pass filter)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Improve robustness using adaptive thresholds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Extend system for activity recognition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D45762-75D0-71AC-C222-E0046A8880D7}"/>
              </a:ext>
            </a:extLst>
          </p:cNvPr>
          <p:cNvSpPr txBox="1"/>
          <p:nvPr/>
        </p:nvSpPr>
        <p:spPr>
          <a:xfrm>
            <a:off x="4764024" y="3246120"/>
            <a:ext cx="25237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Task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151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C875-75A2-0F99-898C-6D75C7C83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 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205AB-9E00-4F33-8ACD-35AE39651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640" y="1560449"/>
            <a:ext cx="10515600" cy="4351338"/>
          </a:xfrm>
        </p:spPr>
        <p:txBody>
          <a:bodyPr/>
          <a:lstStyle/>
          <a:p>
            <a:r>
              <a:rPr lang="en-US" dirty="0"/>
              <a:t>A jump detection system using IMU was successfully implemented using ESP32.</a:t>
            </a:r>
          </a:p>
          <a:p>
            <a:r>
              <a:rPr lang="en-US" dirty="0"/>
              <a:t>Key achievements:</a:t>
            </a:r>
          </a:p>
          <a:p>
            <a:r>
              <a:rPr lang="en-US" dirty="0"/>
              <a:t>Motion pattern-based detection using FSM</a:t>
            </a:r>
          </a:p>
          <a:p>
            <a:r>
              <a:rPr lang="en-US" dirty="0"/>
              <a:t>Identification of flight phase as key feature</a:t>
            </a:r>
          </a:p>
          <a:p>
            <a:r>
              <a:rPr lang="en-US" dirty="0"/>
              <a:t>Reduction in false positives</a:t>
            </a:r>
          </a:p>
          <a:p>
            <a:r>
              <a:rPr lang="en-US" dirty="0"/>
              <a:t>This approach provides a more reliable solution compared to traditional threshold-based methods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3658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D179F-EAFD-70C1-2FD6-CE0285004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615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8899A-04A8-AAA5-0D05-C89D6014E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1944"/>
            <a:ext cx="10515600" cy="5174615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[1] D. S. Davis, D. A. Briscoe, C. T. Markowski, S. E. Saville, and C. J. Taylor, “Physical characteristics that predict vertical jump performance in recreational male athletes,” Phys. Therapy Sport,vol.4, no. 4, pp. 167–174, 2003. </a:t>
            </a:r>
          </a:p>
          <a:p>
            <a:r>
              <a:rPr lang="en-IN" dirty="0"/>
              <a:t>[2] P. </a:t>
            </a:r>
            <a:r>
              <a:rPr lang="en-IN" dirty="0" err="1"/>
              <a:t>Klavora</a:t>
            </a:r>
            <a:r>
              <a:rPr lang="en-IN" dirty="0"/>
              <a:t>, “Vertical-jump tests: A critical review,” Strength Cond. J., vol. 22, no. 5, p. 70, 2000.</a:t>
            </a:r>
          </a:p>
          <a:p>
            <a:pPr marL="0" indent="0">
              <a:buNone/>
            </a:pPr>
            <a:r>
              <a:rPr lang="en-IN" dirty="0"/>
              <a:t> [3] J. Lin, J. Shen, J. Zhang, A. Zhou, and W. Guo, “Correlations between horizontal jump and sprint acceleration and maximal speed performance: A systematic review and meta-analysis,” </a:t>
            </a:r>
            <a:r>
              <a:rPr lang="en-IN" dirty="0" err="1"/>
              <a:t>PeerJ</a:t>
            </a:r>
            <a:r>
              <a:rPr lang="en-IN" dirty="0"/>
              <a:t>, vol. 11, Feb. 2023, Art. no. e14650. </a:t>
            </a:r>
          </a:p>
          <a:p>
            <a:r>
              <a:rPr lang="en-IN" dirty="0"/>
              <a:t>[4] J. J. McMahon, J. P. Lake, C. Stratford, and P. Comfort, “A proposed method for evaluating drop jump performance with one force plat form,” Biomechanics, vol. 1, no. 2, pp. 178–189, 2021.</a:t>
            </a:r>
          </a:p>
          <a:p>
            <a:r>
              <a:rPr lang="en-IN" dirty="0"/>
              <a:t> [5] K. Mackala, M. </a:t>
            </a:r>
            <a:r>
              <a:rPr lang="en-IN" dirty="0" err="1"/>
              <a:t>Fostiak</a:t>
            </a:r>
            <a:r>
              <a:rPr lang="en-IN" dirty="0"/>
              <a:t>, B. Schweyen, T. </a:t>
            </a:r>
            <a:r>
              <a:rPr lang="en-IN" dirty="0" err="1"/>
              <a:t>Osik</a:t>
            </a:r>
            <a:r>
              <a:rPr lang="en-IN" dirty="0"/>
              <a:t>, and M. Coch, “Acute effects of a speed training program on sprinting step kinematics and performance,” Int. J. Environ. Res. Public Health, vol. 16, no. 17, p. 3138, 2019.</a:t>
            </a:r>
          </a:p>
          <a:p>
            <a:r>
              <a:rPr lang="en-IN" dirty="0"/>
              <a:t> [6] K. Kipp and H. Kim, “Relative contributions and capacities of lower extremity muscles to accelerate the body’s </a:t>
            </a:r>
            <a:r>
              <a:rPr lang="en-IN" dirty="0" err="1"/>
              <a:t>center</a:t>
            </a:r>
            <a:r>
              <a:rPr lang="en-IN" dirty="0"/>
              <a:t> of mass during countermovement jumps,” </a:t>
            </a:r>
            <a:r>
              <a:rPr lang="en-IN" dirty="0" err="1"/>
              <a:t>Comput</a:t>
            </a:r>
            <a:r>
              <a:rPr lang="en-IN" dirty="0"/>
              <a:t>. Methods </a:t>
            </a:r>
            <a:r>
              <a:rPr lang="en-IN" dirty="0" err="1"/>
              <a:t>Biomech</a:t>
            </a:r>
            <a:r>
              <a:rPr lang="en-IN" dirty="0"/>
              <a:t>. Biomed. Eng., vol. 23, no. 12, pp. 914–921, 2020.</a:t>
            </a:r>
          </a:p>
          <a:p>
            <a:r>
              <a:rPr lang="en-IN" dirty="0"/>
              <a:t> [7] D. V. Cabarkapa, A. C. Fry, D. Cabarkapa, M. E. Parra, and M. J. Hermes, “Impact of accelerometer placement on assessment of vertical jump performance parameters,” J. Phys. Educ. Sport, vol. 22, no. 5, pp. 1340–1345, 2022. </a:t>
            </a:r>
          </a:p>
          <a:p>
            <a:r>
              <a:rPr lang="en-IN" dirty="0"/>
              <a:t>[8] J. S. Arlotti et al., “Benefits of IMU-based wearables in sports medicine: Narrative review,” Int. J. </a:t>
            </a:r>
            <a:r>
              <a:rPr lang="en-IN" dirty="0" err="1"/>
              <a:t>Kinesiol</a:t>
            </a:r>
            <a:r>
              <a:rPr lang="en-IN" dirty="0"/>
              <a:t>. Sports Sci., vol. 10, no. 1, pp. 36–43, 2022.</a:t>
            </a:r>
          </a:p>
          <a:p>
            <a:r>
              <a:rPr lang="en-IN" dirty="0"/>
              <a:t> [9] M. </a:t>
            </a:r>
            <a:r>
              <a:rPr lang="en-IN" dirty="0" err="1"/>
              <a:t>Straeten</a:t>
            </a:r>
            <a:r>
              <a:rPr lang="en-IN" dirty="0"/>
              <a:t>, P. Rajai, and M. J. Ahamed, “Method and implementation of micro inertial measurement unit (IMU) in sensing basketball </a:t>
            </a:r>
            <a:r>
              <a:rPr lang="en-IN" dirty="0" err="1"/>
              <a:t>dynam</a:t>
            </a:r>
            <a:r>
              <a:rPr lang="en-IN" dirty="0"/>
              <a:t> </a:t>
            </a:r>
            <a:r>
              <a:rPr lang="en-IN" dirty="0" err="1"/>
              <a:t>ics</a:t>
            </a:r>
            <a:r>
              <a:rPr lang="en-IN" dirty="0"/>
              <a:t>,” Sens. </a:t>
            </a:r>
            <a:r>
              <a:rPr lang="en-IN" dirty="0" err="1"/>
              <a:t>Actuat</a:t>
            </a:r>
            <a:r>
              <a:rPr lang="en-IN" dirty="0"/>
              <a:t>. A, Phys., vol. 293, pp. 7–13, Jul. 2019. </a:t>
            </a:r>
          </a:p>
          <a:p>
            <a:r>
              <a:rPr lang="en-IN" dirty="0"/>
              <a:t>[10] T. Haynes, C. Bishop, M. Antrobus, and J. Brazier, “The validity and reliability of the My Jump 2 app for measuring the reactive strength index and drop jump performance,” J. Sports Med. Phys. Fitness, vol. 59, pp. 253–258, Feb. 2019.</a:t>
            </a:r>
          </a:p>
          <a:p>
            <a:r>
              <a:rPr lang="en-IN" dirty="0"/>
              <a:t> [11] A. </a:t>
            </a:r>
            <a:r>
              <a:rPr lang="en-IN" dirty="0" err="1"/>
              <a:t>Vanezis</a:t>
            </a:r>
            <a:r>
              <a:rPr lang="en-IN" dirty="0"/>
              <a:t> and A. Lees, “A biomechanical analysis of good and poor performers of the vertical jump,” Ergonomics, vol. 48, nos. 11–14, pp. 1594–1603, 2005</a:t>
            </a:r>
          </a:p>
        </p:txBody>
      </p:sp>
    </p:spTree>
    <p:extLst>
      <p:ext uri="{BB962C8B-B14F-4D97-AF65-F5344CB8AC3E}">
        <p14:creationId xmlns:p14="http://schemas.microsoft.com/office/powerpoint/2010/main" val="1011336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AC6DE9-2758-D30A-8084-811276F13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7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1560</Words>
  <Application>Microsoft Office PowerPoint</Application>
  <PresentationFormat>Widescreen</PresentationFormat>
  <Paragraphs>141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Design &amp; Implementation of embedded system for IMU-based jump event detection &amp; Timing Analysis</vt:lpstr>
      <vt:lpstr>                                 ABSTRACT</vt:lpstr>
      <vt:lpstr>Problem Statement :</vt:lpstr>
      <vt:lpstr>                                   Objective </vt:lpstr>
      <vt:lpstr>                              Literature survey</vt:lpstr>
      <vt:lpstr>                            System overview</vt:lpstr>
      <vt:lpstr>                               BLOCK DIAGRAM</vt:lpstr>
      <vt:lpstr>                             Working principle</vt:lpstr>
      <vt:lpstr>                   Requirements</vt:lpstr>
      <vt:lpstr>               Hardware Implementation</vt:lpstr>
      <vt:lpstr>                                     Key Insight</vt:lpstr>
      <vt:lpstr>                                  Methodology</vt:lpstr>
      <vt:lpstr>                       Experimental Results</vt:lpstr>
      <vt:lpstr>                               Limitations</vt:lpstr>
      <vt:lpstr>                               Conclusion</vt:lpstr>
      <vt:lpstr>REFERENCE: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sris82051@gmail.com</dc:creator>
  <cp:lastModifiedBy>sris82051@gmail.com</cp:lastModifiedBy>
  <cp:revision>5</cp:revision>
  <dcterms:created xsi:type="dcterms:W3CDTF">2026-03-29T15:57:58Z</dcterms:created>
  <dcterms:modified xsi:type="dcterms:W3CDTF">2026-05-21T10:12:55Z</dcterms:modified>
</cp:coreProperties>
</file>